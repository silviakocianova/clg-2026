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80" r:id="rId4"/>
    <p:sldId id="268" r:id="rId5"/>
    <p:sldId id="275" r:id="rId6"/>
    <p:sldId id="259" r:id="rId7"/>
    <p:sldId id="258" r:id="rId8"/>
    <p:sldId id="264" r:id="rId9"/>
    <p:sldId id="265" r:id="rId10"/>
    <p:sldId id="263" r:id="rId11"/>
    <p:sldId id="266" r:id="rId12"/>
    <p:sldId id="267" r:id="rId13"/>
    <p:sldId id="269" r:id="rId14"/>
    <p:sldId id="270" r:id="rId15"/>
    <p:sldId id="271" r:id="rId16"/>
    <p:sldId id="272" r:id="rId17"/>
    <p:sldId id="277" r:id="rId18"/>
    <p:sldId id="278" r:id="rId19"/>
    <p:sldId id="279" r:id="rId20"/>
    <p:sldId id="274" r:id="rId21"/>
    <p:sldId id="281" r:id="rId22"/>
    <p:sldId id="283" r:id="rId23"/>
    <p:sldId id="276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4EA72E"/>
    <a:srgbClr val="4D8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/>
    <p:restoredTop sz="94666"/>
  </p:normalViewPr>
  <p:slideViewPr>
    <p:cSldViewPr snapToGrid="0">
      <p:cViewPr varScale="1">
        <p:scale>
          <a:sx n="101" d="100"/>
          <a:sy n="101" d="100"/>
        </p:scale>
        <p:origin x="93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E4AF5E-DB8B-E231-BA50-EF8698B37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6699D9A-4E9C-C94A-0A4B-D0E9BCA71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35D791-D6F5-56AF-FE3A-F4DDDC58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ABE3EA7-8501-E6AA-8DED-8B3EE4D1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2A7971-25AE-A363-D7F9-9D0435FC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052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DCB04F-8E08-E56F-DFAB-8B30E0A4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EAFA42-4977-71C8-169B-0C88AD0A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9422E7-99CA-A846-E715-D3820636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F41824-9718-BCD3-279C-8D5FB4D5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3458578-9758-DF1F-1DBF-9B2E90B2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093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371421-42DC-F912-05E6-F2AB7B013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D9FF76C-D794-1112-604A-E88A5ABB5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72B0D0-EE6F-E823-1F40-ADAD750E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BFDA21E-816A-FC39-C99B-B4C46EBB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3DC883-6819-7576-A8BB-3014F10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70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B5D6C5-3CCC-039F-F413-8B5CD9B9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6B53CB-77A5-8330-0409-B9B6A4FD0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11DFC44-3DBC-15D2-D373-2D6199AA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C6CE5D4-799A-5A1B-EE04-9C9D13FD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831A9FE-D3D3-A30A-2719-8F0CEB06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71985BA-1739-1321-AA70-B89413A6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032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52B7FB-3992-0DBB-C961-7C9EF07E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49994-F4D9-0D94-A476-DFCB9AA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62385E-4A5F-0BBB-52DB-51A9D3E16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1862984-0529-E317-93E4-301746096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C7D7779-A53A-A0B3-4D79-0EA879F6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AD43A67-3830-AED0-8B36-54DBA1B5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527D6C3-C594-6480-7430-31F57D14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CFCD00B-F208-2235-4103-6A50D239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160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1E9182-AF08-17A6-1CF1-AD787CA5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D84B47-8890-BA38-E1A7-A46CDB91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E51886F-764E-9C31-92B0-7655A7C7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03EB6CE-F152-07AD-A760-A590A70B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573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0DC9942-20F1-AE80-F62A-9202D133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30CE7CC-4FD1-D125-26B9-513B1AC1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70E984B-A533-7D79-F525-6463CF8B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03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951BC5-6F37-A026-2613-1122FE61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422B66-232B-FCC8-E326-FB55EBB0D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4A3AB97-9E22-7F91-E686-347986B63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03B30CA-FFCC-A63A-DBB6-A3B9D7C9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10124B2-7141-FEA4-3FEE-8C355B48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B2B4E-0E46-49BF-EA87-7CA115A8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3414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88B64D-E874-6B37-EB3E-F25C001E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8B36E8D-85C8-0E99-4234-D0240EBBC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5BBAC51-5A12-00C2-AF37-C361331C0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1EBCD83-D599-EDA4-9A50-84AC98C6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D73ACA-9CFC-6392-46B0-9252E977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EDB011E-6FAE-430A-0AE4-D88EFDD1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889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5F9506-5DE8-5301-2EE4-48035D4A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8243F87-9A51-C610-0E97-663FCF4D1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70B49E-82C9-15B7-3F89-0561B223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C526760-EEFE-2515-B314-1A57D6AA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EB9543-5129-92B5-43B6-2AA573A1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444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55EBDC9-74FD-4D91-252C-52F838549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C0F5D9B-E432-9A8F-329E-5F1F32941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119F05-9D08-682A-3E7A-3F237D2C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0E5EE7-F38D-4B4F-3708-123360A1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B7ACC4-8B70-4DD4-CECF-C33FD5AD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272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69451F8-AAB3-6025-C641-4766E20B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9DC110-D779-F025-5495-0986EE5D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0B395A-5F9B-23AF-2227-77E630157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9430B-3762-C447-B424-303D171536F4}" type="datetimeFigureOut">
              <a:rPr lang="cs-CZ" smtClean="0"/>
              <a:t>14.07.2025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B5FDF5-0949-2029-1277-A440FDD6A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B1C3E4-F33F-B269-7A79-6C3A882D1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AF227-617F-CB40-9B36-2064605F9B69}" type="slidenum">
              <a:rPr lang="cs-CZ" smtClean="0"/>
              <a:t>‹#›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51EA8DA-2D66-36FF-58FB-49B230B2F3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60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7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162367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jsfiddle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cssref/css3_pr_transform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sfiddle.net/zxr9he7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sfiddle.net/doacm0L5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jsfiddle.net/jsach7bv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sfiddle.net/Lsa3rv1z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jsfiddle.net/o2Lv67mj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jsfiddle.net/ykz7v1f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01ur5w74/" TargetMode="External"/><Relationship Id="rId2" Type="http://schemas.openxmlformats.org/officeDocument/2006/relationships/hyperlink" Target="https://cubic-bezier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pa50yj1s/" TargetMode="External"/><Relationship Id="rId2" Type="http://schemas.openxmlformats.org/officeDocument/2006/relationships/hyperlink" Target="https://cubic-bezie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jsfiddle.net/6u4L5e0c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jsfiddle.net/kx3h8b2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jsfiddle.net/ybLxn5o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jsfiddle.net/y8vzhctj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sfiddle.net/uhcswxm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DBD223-02BF-C92F-6F20-847F09B6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cs-CZ" sz="8000" dirty="0">
                <a:solidFill>
                  <a:srgbClr val="FFFFFF"/>
                </a:solidFill>
              </a:rPr>
              <a:t>CSS</a:t>
            </a:r>
            <a:br>
              <a:rPr lang="cs-CZ" sz="8000" dirty="0">
                <a:solidFill>
                  <a:srgbClr val="FFFFFF"/>
                </a:solidFill>
              </a:rPr>
            </a:br>
            <a:r>
              <a:rPr lang="cs-CZ" sz="8000" dirty="0">
                <a:solidFill>
                  <a:srgbClr val="FFFFFF"/>
                </a:solidFill>
              </a:rPr>
              <a:t>animace transformace přechody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DACC0E-A632-C115-4036-F6AF3D038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cs-CZ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E93F477-F9D6-3460-88F1-400376A70968}"/>
              </a:ext>
            </a:extLst>
          </p:cNvPr>
          <p:cNvSpPr txBox="1"/>
          <p:nvPr/>
        </p:nvSpPr>
        <p:spPr>
          <a:xfrm>
            <a:off x="1140643" y="8201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3843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Co je animace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Zobrazení obrázků v rychlém sledu za sebou.</a:t>
            </a:r>
          </a:p>
          <a:p>
            <a:r>
              <a:rPr lang="cs-CZ" sz="1700" dirty="0"/>
              <a:t>FPS – </a:t>
            </a:r>
            <a:r>
              <a:rPr lang="cs-CZ" sz="1700" dirty="0" err="1"/>
              <a:t>Frames</a:t>
            </a:r>
            <a:r>
              <a:rPr lang="cs-CZ" sz="1700" dirty="0"/>
              <a:t> Per Second</a:t>
            </a:r>
          </a:p>
          <a:p>
            <a:r>
              <a:rPr lang="cs-CZ" sz="1700" dirty="0"/>
              <a:t>Čím plynulejší animace, tím více FPS</a:t>
            </a:r>
          </a:p>
          <a:p>
            <a:pPr marL="0" indent="0">
              <a:buNone/>
            </a:pPr>
            <a:endParaRPr lang="cs-CZ" sz="1700" dirty="0"/>
          </a:p>
        </p:txBody>
      </p:sp>
      <p:pic>
        <p:nvPicPr>
          <p:cNvPr id="6" name="Obrázek 5" descr="Obsah obrázku zima, sníh, snímek obrazovky, venku&#10;&#10;Popis byl vytvořen automaticky">
            <a:extLst>
              <a:ext uri="{FF2B5EF4-FFF2-40B4-BE49-F238E27FC236}">
                <a16:creationId xmlns:a16="http://schemas.microsoft.com/office/drawing/2014/main" id="{804B1AA8-471F-B787-201F-F7A37F8D9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10" r="34426"/>
          <a:stretch/>
        </p:blipFill>
        <p:spPr>
          <a:xfrm>
            <a:off x="9396539" y="328388"/>
            <a:ext cx="1020727" cy="6201224"/>
          </a:xfrm>
          <a:prstGeom prst="rect">
            <a:avLst/>
          </a:prstGeom>
        </p:spPr>
      </p:pic>
      <p:graphicFrame>
        <p:nvGraphicFramePr>
          <p:cNvPr id="8" name="Tabulka 7">
            <a:extLst>
              <a:ext uri="{FF2B5EF4-FFF2-40B4-BE49-F238E27FC236}">
                <a16:creationId xmlns:a16="http://schemas.microsoft.com/office/drawing/2014/main" id="{112E7DA7-18EF-FED6-1F02-A84BC8113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144309"/>
              </p:ext>
            </p:extLst>
          </p:nvPr>
        </p:nvGraphicFramePr>
        <p:xfrm>
          <a:off x="4826766" y="2720393"/>
          <a:ext cx="419867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225">
                  <a:extLst>
                    <a:ext uri="{9D8B030D-6E8A-4147-A177-3AD203B41FA5}">
                      <a16:colId xmlns:a16="http://schemas.microsoft.com/office/drawing/2014/main" val="2044729095"/>
                    </a:ext>
                  </a:extLst>
                </a:gridCol>
                <a:gridCol w="3468454">
                  <a:extLst>
                    <a:ext uri="{9D8B030D-6E8A-4147-A177-3AD203B41FA5}">
                      <a16:colId xmlns:a16="http://schemas.microsoft.com/office/drawing/2014/main" val="677333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Délka zobrazení snímku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19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1000 </a:t>
                      </a:r>
                      <a:r>
                        <a:rPr lang="cs-CZ" dirty="0" err="1"/>
                        <a:t>ms</a:t>
                      </a:r>
                      <a:r>
                        <a:rPr lang="cs-CZ" dirty="0"/>
                        <a:t> / 30 = 33.333 </a:t>
                      </a:r>
                      <a:r>
                        <a:rPr lang="cs-CZ" dirty="0" err="1"/>
                        <a:t>ms</a:t>
                      </a:r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31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1000 </a:t>
                      </a:r>
                      <a:r>
                        <a:rPr lang="cs-CZ" dirty="0" err="1"/>
                        <a:t>ms</a:t>
                      </a:r>
                      <a:r>
                        <a:rPr lang="cs-CZ" dirty="0"/>
                        <a:t> / 60 = 16.666 </a:t>
                      </a:r>
                      <a:r>
                        <a:rPr lang="cs-CZ" dirty="0" err="1"/>
                        <a:t>ms</a:t>
                      </a:r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895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62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JS </a:t>
            </a:r>
            <a:r>
              <a:rPr lang="cs-CZ" sz="2800" dirty="0" err="1"/>
              <a:t>Fiddle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>
                <a:hlinkClick r:id="rId2"/>
              </a:rPr>
              <a:t>https://jsfiddle.net/</a:t>
            </a:r>
            <a:endParaRPr lang="cs-CZ" sz="1700" dirty="0"/>
          </a:p>
          <a:p>
            <a:r>
              <a:rPr lang="cs-CZ" sz="1700" dirty="0"/>
              <a:t>Slouží pro rychlé psaní jednoduššího kódu</a:t>
            </a:r>
          </a:p>
          <a:p>
            <a:r>
              <a:rPr lang="cs-CZ" sz="1700" dirty="0"/>
              <a:t>Kód se dá uložit a sdílet pomocí odkazu</a:t>
            </a:r>
          </a:p>
          <a:p>
            <a:r>
              <a:rPr lang="cs-CZ" sz="1700" dirty="0"/>
              <a:t>Může se psát HTML, CSS a JavaScript</a:t>
            </a:r>
          </a:p>
          <a:p>
            <a:pPr marL="0" indent="0">
              <a:buNone/>
            </a:pPr>
            <a:endParaRPr lang="cs-CZ" sz="1700"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FFE9B55C-88F8-1259-3F98-692806521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23" y="795569"/>
            <a:ext cx="6790335" cy="52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DBD223-02BF-C92F-6F20-847F09B6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cs-CZ" sz="8000" dirty="0">
                <a:solidFill>
                  <a:srgbClr val="FFFFFF"/>
                </a:solidFill>
              </a:rPr>
              <a:t>1. transformace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DACC0E-A632-C115-4036-F6AF3D038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cs-CZ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21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/>
              <a:t>Transformace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cs-CZ" sz="1700" dirty="0"/>
              <a:t>CSS vlastnost </a:t>
            </a:r>
            <a:r>
              <a:rPr lang="cs-CZ" sz="1700" i="1" dirty="0" err="1"/>
              <a:t>transform</a:t>
            </a:r>
            <a:r>
              <a:rPr lang="cs-CZ" sz="1700" dirty="0"/>
              <a:t> nám umožňuje aplikovat transformace na HTML elementy. Můžeme tak elementy:</a:t>
            </a:r>
          </a:p>
          <a:p>
            <a:r>
              <a:rPr lang="cs-CZ" sz="1700" dirty="0"/>
              <a:t>Posouvat (</a:t>
            </a:r>
            <a:r>
              <a:rPr lang="cs-CZ" sz="1700" dirty="0" err="1"/>
              <a:t>translate</a:t>
            </a:r>
            <a:r>
              <a:rPr lang="cs-CZ" sz="1700" dirty="0"/>
              <a:t>)</a:t>
            </a:r>
          </a:p>
          <a:p>
            <a:r>
              <a:rPr lang="cs-CZ" sz="1700" dirty="0"/>
              <a:t>Rotovat (</a:t>
            </a:r>
            <a:r>
              <a:rPr lang="cs-CZ" sz="1700" dirty="0" err="1"/>
              <a:t>rotate</a:t>
            </a:r>
            <a:r>
              <a:rPr lang="cs-CZ" sz="1700" dirty="0"/>
              <a:t>)</a:t>
            </a:r>
          </a:p>
          <a:p>
            <a:r>
              <a:rPr lang="cs-CZ" sz="1700" dirty="0"/>
              <a:t>Zmenšit / zvětšit (</a:t>
            </a:r>
            <a:r>
              <a:rPr lang="cs-CZ" sz="1700" dirty="0" err="1"/>
              <a:t>scale</a:t>
            </a:r>
            <a:r>
              <a:rPr lang="cs-CZ" sz="1700" dirty="0"/>
              <a:t>)</a:t>
            </a:r>
          </a:p>
          <a:p>
            <a:r>
              <a:rPr lang="cs-CZ" sz="1700" dirty="0"/>
              <a:t>Zkosit (</a:t>
            </a:r>
            <a:r>
              <a:rPr lang="cs-CZ" sz="1700" dirty="0" err="1"/>
              <a:t>skew</a:t>
            </a:r>
            <a:r>
              <a:rPr lang="cs-CZ" sz="1700" dirty="0"/>
              <a:t>)</a:t>
            </a:r>
          </a:p>
          <a:p>
            <a:r>
              <a:rPr lang="cs-CZ" sz="1700" dirty="0">
                <a:hlinkClick r:id="rId2"/>
              </a:rPr>
              <a:t>https://www.w3schools.com/cssref/css3_pr_transform.php</a:t>
            </a:r>
            <a:endParaRPr lang="cs-CZ" sz="1700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0678F3B2-5F61-7303-A4B5-DA2DB8ED2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184" y="1269107"/>
            <a:ext cx="6922008" cy="44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3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Osy transformací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Elementy se mění dle osy, kterou v hodnotě transformace nastavíme. Máme osy X, </a:t>
            </a:r>
            <a:r>
              <a:rPr lang="cs-CZ" sz="1700" dirty="0" err="1"/>
              <a:t>Y</a:t>
            </a:r>
            <a:r>
              <a:rPr lang="cs-CZ" sz="1700" dirty="0"/>
              <a:t> a Z.</a:t>
            </a:r>
          </a:p>
          <a:p>
            <a:r>
              <a:rPr lang="cs-CZ" sz="1700" dirty="0"/>
              <a:t>Pravidla transformací můžeme nastavit individuálně pro každou osu zvlášť:</a:t>
            </a:r>
          </a:p>
          <a:p>
            <a:pPr lvl="1"/>
            <a:r>
              <a:rPr lang="cs-CZ" sz="1300" dirty="0" err="1"/>
              <a:t>rotateX</a:t>
            </a:r>
            <a:r>
              <a:rPr lang="cs-CZ" sz="1300" dirty="0"/>
              <a:t>(90deg)</a:t>
            </a:r>
          </a:p>
          <a:p>
            <a:pPr lvl="1"/>
            <a:r>
              <a:rPr lang="cs-CZ" sz="1300" dirty="0" err="1"/>
              <a:t>translateY</a:t>
            </a:r>
            <a:r>
              <a:rPr lang="cs-CZ" sz="1300" dirty="0"/>
              <a:t>(10px)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1658C-3C7E-666E-E669-FC08EA9A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723" y="882992"/>
            <a:ext cx="5242059" cy="455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9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Translate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Umožňuje pohybovat s elementem.</a:t>
            </a:r>
          </a:p>
          <a:p>
            <a:r>
              <a:rPr lang="cs-CZ" sz="1700" dirty="0"/>
              <a:t>Pokud nastavíme 100%, bude se element posouvat o celou svojí šířku / výšku.</a:t>
            </a:r>
          </a:p>
          <a:p>
            <a:r>
              <a:rPr lang="cs-CZ" sz="1700" dirty="0">
                <a:hlinkClick r:id="rId2"/>
              </a:rPr>
              <a:t>https://jsfiddle.net/zxr9he78/</a:t>
            </a:r>
            <a:endParaRPr lang="cs-CZ" sz="1700" dirty="0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6B4956AC-F809-036B-689A-34860BB81FD1}"/>
              </a:ext>
            </a:extLst>
          </p:cNvPr>
          <p:cNvSpPr/>
          <p:nvPr/>
        </p:nvSpPr>
        <p:spPr>
          <a:xfrm>
            <a:off x="7041036" y="1319984"/>
            <a:ext cx="2539995" cy="2538062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/>
              <a:t>BOX</a:t>
            </a:r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EA16D4D-52B9-673A-AD78-65C591C07E0C}"/>
              </a:ext>
            </a:extLst>
          </p:cNvPr>
          <p:cNvSpPr/>
          <p:nvPr/>
        </p:nvSpPr>
        <p:spPr>
          <a:xfrm>
            <a:off x="6738572" y="777734"/>
            <a:ext cx="2539995" cy="253806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pic>
        <p:nvPicPr>
          <p:cNvPr id="25" name="Obrázek 24">
            <a:extLst>
              <a:ext uri="{FF2B5EF4-FFF2-40B4-BE49-F238E27FC236}">
                <a16:creationId xmlns:a16="http://schemas.microsoft.com/office/drawing/2014/main" id="{FB8E2170-EB10-B3E9-8398-AB82030C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858" y="4308048"/>
            <a:ext cx="6395836" cy="16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4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Rotate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Umožňuje otáčet s elementem.</a:t>
            </a:r>
          </a:p>
          <a:p>
            <a:r>
              <a:rPr lang="cs-CZ" sz="1700" dirty="0"/>
              <a:t>Pokud nespecifikujeme, tak element rotujeme vždy po ose Z.</a:t>
            </a:r>
          </a:p>
          <a:p>
            <a:r>
              <a:rPr lang="cs-CZ" sz="1700" dirty="0"/>
              <a:t>Rotace je po směru hodinových ručiček.</a:t>
            </a:r>
          </a:p>
          <a:p>
            <a:r>
              <a:rPr lang="cs-CZ" sz="1700" dirty="0"/>
              <a:t>Hodnota je zadávána v úhlech (</a:t>
            </a:r>
            <a:r>
              <a:rPr lang="cs-CZ" sz="1700" dirty="0" err="1"/>
              <a:t>deg</a:t>
            </a:r>
            <a:r>
              <a:rPr lang="cs-CZ" sz="1700" dirty="0"/>
              <a:t> 0 až 360) nebo v tzv. „</a:t>
            </a:r>
            <a:r>
              <a:rPr lang="cs-CZ" sz="1700" dirty="0" err="1"/>
              <a:t>turns</a:t>
            </a:r>
            <a:r>
              <a:rPr lang="cs-CZ" sz="1700" dirty="0"/>
              <a:t>“ (0 až 1 </a:t>
            </a:r>
            <a:r>
              <a:rPr lang="cs-CZ" sz="1700" dirty="0" err="1"/>
              <a:t>turn</a:t>
            </a:r>
            <a:r>
              <a:rPr lang="cs-CZ" sz="1700" dirty="0"/>
              <a:t>).</a:t>
            </a:r>
          </a:p>
          <a:p>
            <a:r>
              <a:rPr lang="cs-CZ" sz="1700" dirty="0">
                <a:hlinkClick r:id="rId2"/>
              </a:rPr>
              <a:t>https://jsfiddle.net/doacm0L5/</a:t>
            </a:r>
            <a:endParaRPr lang="cs-CZ" sz="17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14A92102-078D-7E0C-464C-4EAAEF1F6EAF}"/>
              </a:ext>
            </a:extLst>
          </p:cNvPr>
          <p:cNvSpPr/>
          <p:nvPr/>
        </p:nvSpPr>
        <p:spPr>
          <a:xfrm>
            <a:off x="6766853" y="985124"/>
            <a:ext cx="2539995" cy="253806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60CDFD72-26C2-C4C3-4118-97F5100CE3E3}"/>
              </a:ext>
            </a:extLst>
          </p:cNvPr>
          <p:cNvSpPr/>
          <p:nvPr/>
        </p:nvSpPr>
        <p:spPr>
          <a:xfrm rot="2700000">
            <a:off x="6766854" y="985122"/>
            <a:ext cx="2539994" cy="2538062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2E1B20D-A62B-FAA1-9128-991AC1F23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81" y="4665581"/>
            <a:ext cx="6608738" cy="173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9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Scale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897960"/>
          </a:xfrm>
        </p:spPr>
        <p:txBody>
          <a:bodyPr anchor="t">
            <a:noAutofit/>
          </a:bodyPr>
          <a:lstStyle/>
          <a:p>
            <a:r>
              <a:rPr lang="cs-CZ" sz="1700" dirty="0"/>
              <a:t>Umožňuje škálovat element.</a:t>
            </a:r>
          </a:p>
          <a:p>
            <a:r>
              <a:rPr lang="cs-CZ" sz="1700" dirty="0"/>
              <a:t>Pokud zadáme jedenu hodnotu, zvětšujeme element jako celek.</a:t>
            </a:r>
          </a:p>
          <a:p>
            <a:r>
              <a:rPr lang="cs-CZ" sz="1700" dirty="0"/>
              <a:t>Pokud zadáme dvě hodnoty, tak první je zvětšení po ose X a druhá je pro osu </a:t>
            </a:r>
            <a:r>
              <a:rPr lang="cs-CZ" sz="1700" dirty="0" err="1"/>
              <a:t>Y</a:t>
            </a:r>
            <a:r>
              <a:rPr lang="cs-CZ" sz="1700" dirty="0"/>
              <a:t>.</a:t>
            </a:r>
          </a:p>
          <a:p>
            <a:r>
              <a:rPr lang="cs-CZ" sz="1700" dirty="0"/>
              <a:t>Hodnota 1 je </a:t>
            </a:r>
            <a:r>
              <a:rPr lang="cs-CZ" sz="1700" dirty="0" err="1"/>
              <a:t>akutální</a:t>
            </a:r>
            <a:r>
              <a:rPr lang="cs-CZ" sz="1700" dirty="0"/>
              <a:t> velikost element.</a:t>
            </a:r>
          </a:p>
          <a:p>
            <a:r>
              <a:rPr lang="cs-CZ" sz="1700" dirty="0"/>
              <a:t>Pokud zadáme 0.5 tak element zmenšíme o 50%.</a:t>
            </a:r>
          </a:p>
          <a:p>
            <a:r>
              <a:rPr lang="cs-CZ" sz="1700" dirty="0"/>
              <a:t>Pokud zadáme 1.5 tak element zvětšíme o 50%.</a:t>
            </a:r>
          </a:p>
          <a:p>
            <a:r>
              <a:rPr lang="cs-CZ" sz="1700" dirty="0">
                <a:hlinkClick r:id="rId2"/>
              </a:rPr>
              <a:t>https://jsfiddle.net/jsach7bv/</a:t>
            </a:r>
            <a:endParaRPr lang="cs-CZ" sz="1700" dirty="0"/>
          </a:p>
          <a:p>
            <a:endParaRPr lang="cs-CZ" sz="17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DD2E1A0-871F-5D02-98F2-14D9A15CA60D}"/>
              </a:ext>
            </a:extLst>
          </p:cNvPr>
          <p:cNvSpPr/>
          <p:nvPr/>
        </p:nvSpPr>
        <p:spPr>
          <a:xfrm rot="10800000">
            <a:off x="6766853" y="956843"/>
            <a:ext cx="2539994" cy="2538062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32CE777-0248-FC87-7787-2DEE9026629E}"/>
              </a:ext>
            </a:extLst>
          </p:cNvPr>
          <p:cNvSpPr/>
          <p:nvPr/>
        </p:nvSpPr>
        <p:spPr>
          <a:xfrm rot="10800000">
            <a:off x="5514680" y="1602600"/>
            <a:ext cx="5062194" cy="1239013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ABB8DF53-F26B-567F-7D2E-09E46C6D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12" y="4016386"/>
            <a:ext cx="6901738" cy="18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3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Skew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Umožňuje zkosit element.</a:t>
            </a:r>
          </a:p>
          <a:p>
            <a:r>
              <a:rPr lang="cs-CZ" sz="1700" dirty="0"/>
              <a:t>Hodnota se zadává v </a:t>
            </a:r>
            <a:r>
              <a:rPr lang="cs-CZ" sz="1700" dirty="0" err="1"/>
              <a:t>deg</a:t>
            </a:r>
            <a:r>
              <a:rPr lang="cs-CZ" sz="1700" dirty="0"/>
              <a:t> nebo v </a:t>
            </a:r>
            <a:r>
              <a:rPr lang="cs-CZ" sz="1700" dirty="0" err="1"/>
              <a:t>turn</a:t>
            </a:r>
            <a:endParaRPr lang="cs-CZ" sz="1700" dirty="0"/>
          </a:p>
          <a:p>
            <a:r>
              <a:rPr lang="cs-CZ" sz="1700" dirty="0">
                <a:hlinkClick r:id="rId2"/>
              </a:rPr>
              <a:t>https://jsfiddle.net/Lsa3rv1z/</a:t>
            </a:r>
            <a:endParaRPr lang="cs-CZ" sz="1700" dirty="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EA16D4D-52B9-673A-AD78-65C591C07E0C}"/>
              </a:ext>
            </a:extLst>
          </p:cNvPr>
          <p:cNvSpPr/>
          <p:nvPr/>
        </p:nvSpPr>
        <p:spPr>
          <a:xfrm>
            <a:off x="6738572" y="777734"/>
            <a:ext cx="2539995" cy="253806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A61357-2B4A-7E28-29B2-8E1D897A9547}"/>
              </a:ext>
            </a:extLst>
          </p:cNvPr>
          <p:cNvSpPr/>
          <p:nvPr/>
        </p:nvSpPr>
        <p:spPr>
          <a:xfrm>
            <a:off x="6738572" y="777734"/>
            <a:ext cx="2539995" cy="253806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EA27D5F-C9C1-C8EB-526A-DDBDCE0B3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119" y="4308048"/>
            <a:ext cx="6575835" cy="1724999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id="{49C75765-E2F9-1DD5-7B21-3EC5CEBB0C80}"/>
              </a:ext>
            </a:extLst>
          </p:cNvPr>
          <p:cNvSpPr/>
          <p:nvPr/>
        </p:nvSpPr>
        <p:spPr>
          <a:xfrm>
            <a:off x="6267232" y="777734"/>
            <a:ext cx="3360127" cy="2547489"/>
          </a:xfrm>
          <a:custGeom>
            <a:avLst/>
            <a:gdLst>
              <a:gd name="connsiteX0" fmla="*/ 0 w 2539995"/>
              <a:gd name="connsiteY0" fmla="*/ 0 h 2538062"/>
              <a:gd name="connsiteX1" fmla="*/ 2539995 w 2539995"/>
              <a:gd name="connsiteY1" fmla="*/ 0 h 2538062"/>
              <a:gd name="connsiteX2" fmla="*/ 2539995 w 2539995"/>
              <a:gd name="connsiteY2" fmla="*/ 2538062 h 2538062"/>
              <a:gd name="connsiteX3" fmla="*/ 0 w 2539995"/>
              <a:gd name="connsiteY3" fmla="*/ 2538062 h 2538062"/>
              <a:gd name="connsiteX4" fmla="*/ 0 w 2539995"/>
              <a:gd name="connsiteY4" fmla="*/ 0 h 2538062"/>
              <a:gd name="connsiteX0" fmla="*/ 0 w 2879360"/>
              <a:gd name="connsiteY0" fmla="*/ 0 h 2538062"/>
              <a:gd name="connsiteX1" fmla="*/ 2879360 w 2879360"/>
              <a:gd name="connsiteY1" fmla="*/ 9426 h 2538062"/>
              <a:gd name="connsiteX2" fmla="*/ 2539995 w 2879360"/>
              <a:gd name="connsiteY2" fmla="*/ 2538062 h 2538062"/>
              <a:gd name="connsiteX3" fmla="*/ 0 w 2879360"/>
              <a:gd name="connsiteY3" fmla="*/ 2538062 h 2538062"/>
              <a:gd name="connsiteX4" fmla="*/ 0 w 2879360"/>
              <a:gd name="connsiteY4" fmla="*/ 0 h 2538062"/>
              <a:gd name="connsiteX0" fmla="*/ 0 w 3350700"/>
              <a:gd name="connsiteY0" fmla="*/ 0 h 2538062"/>
              <a:gd name="connsiteX1" fmla="*/ 3350700 w 3350700"/>
              <a:gd name="connsiteY1" fmla="*/ 9426 h 2538062"/>
              <a:gd name="connsiteX2" fmla="*/ 3011335 w 3350700"/>
              <a:gd name="connsiteY2" fmla="*/ 2538062 h 2538062"/>
              <a:gd name="connsiteX3" fmla="*/ 471340 w 3350700"/>
              <a:gd name="connsiteY3" fmla="*/ 2538062 h 2538062"/>
              <a:gd name="connsiteX4" fmla="*/ 0 w 3350700"/>
              <a:gd name="connsiteY4" fmla="*/ 0 h 2538062"/>
              <a:gd name="connsiteX0" fmla="*/ 0 w 3011335"/>
              <a:gd name="connsiteY0" fmla="*/ 1 h 2538063"/>
              <a:gd name="connsiteX1" fmla="*/ 3011335 w 3011335"/>
              <a:gd name="connsiteY1" fmla="*/ 0 h 2538063"/>
              <a:gd name="connsiteX2" fmla="*/ 3011335 w 3011335"/>
              <a:gd name="connsiteY2" fmla="*/ 2538063 h 2538063"/>
              <a:gd name="connsiteX3" fmla="*/ 471340 w 3011335"/>
              <a:gd name="connsiteY3" fmla="*/ 2538063 h 2538063"/>
              <a:gd name="connsiteX4" fmla="*/ 0 w 3011335"/>
              <a:gd name="connsiteY4" fmla="*/ 1 h 2538063"/>
              <a:gd name="connsiteX0" fmla="*/ 0 w 3011335"/>
              <a:gd name="connsiteY0" fmla="*/ 0 h 2538062"/>
              <a:gd name="connsiteX1" fmla="*/ 2634263 w 3011335"/>
              <a:gd name="connsiteY1" fmla="*/ 9425 h 2538062"/>
              <a:gd name="connsiteX2" fmla="*/ 3011335 w 3011335"/>
              <a:gd name="connsiteY2" fmla="*/ 2538062 h 2538062"/>
              <a:gd name="connsiteX3" fmla="*/ 471340 w 3011335"/>
              <a:gd name="connsiteY3" fmla="*/ 2538062 h 2538062"/>
              <a:gd name="connsiteX4" fmla="*/ 0 w 3011335"/>
              <a:gd name="connsiteY4" fmla="*/ 0 h 2538062"/>
              <a:gd name="connsiteX0" fmla="*/ 0 w 3360127"/>
              <a:gd name="connsiteY0" fmla="*/ 0 h 2547489"/>
              <a:gd name="connsiteX1" fmla="*/ 2634263 w 3360127"/>
              <a:gd name="connsiteY1" fmla="*/ 9425 h 2547489"/>
              <a:gd name="connsiteX2" fmla="*/ 3360127 w 3360127"/>
              <a:gd name="connsiteY2" fmla="*/ 2547489 h 2547489"/>
              <a:gd name="connsiteX3" fmla="*/ 471340 w 3360127"/>
              <a:gd name="connsiteY3" fmla="*/ 2538062 h 2547489"/>
              <a:gd name="connsiteX4" fmla="*/ 0 w 3360127"/>
              <a:gd name="connsiteY4" fmla="*/ 0 h 2547489"/>
              <a:gd name="connsiteX0" fmla="*/ 0 w 3360127"/>
              <a:gd name="connsiteY0" fmla="*/ 0 h 2547489"/>
              <a:gd name="connsiteX1" fmla="*/ 2634263 w 3360127"/>
              <a:gd name="connsiteY1" fmla="*/ 9425 h 2547489"/>
              <a:gd name="connsiteX2" fmla="*/ 3360127 w 3360127"/>
              <a:gd name="connsiteY2" fmla="*/ 2547489 h 2547489"/>
              <a:gd name="connsiteX3" fmla="*/ 754144 w 3360127"/>
              <a:gd name="connsiteY3" fmla="*/ 2547489 h 2547489"/>
              <a:gd name="connsiteX4" fmla="*/ 0 w 3360127"/>
              <a:gd name="connsiteY4" fmla="*/ 0 h 2547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0127" h="2547489">
                <a:moveTo>
                  <a:pt x="0" y="0"/>
                </a:moveTo>
                <a:lnTo>
                  <a:pt x="2634263" y="9425"/>
                </a:lnTo>
                <a:lnTo>
                  <a:pt x="3360127" y="2547489"/>
                </a:lnTo>
                <a:lnTo>
                  <a:pt x="754144" y="2547489"/>
                </a:lnTo>
                <a:lnTo>
                  <a:pt x="0" y="0"/>
                </a:lnTo>
                <a:close/>
              </a:path>
            </a:pathLst>
          </a:cu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441480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Vícenásobné transformace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Transformace se dají řetězit za sebou.</a:t>
            </a:r>
          </a:p>
          <a:p>
            <a:r>
              <a:rPr lang="cs-CZ" sz="1700" dirty="0"/>
              <a:t>Pravidla se ale přepisují a bude platit to poslední.</a:t>
            </a:r>
          </a:p>
          <a:p>
            <a:r>
              <a:rPr lang="cs-CZ" sz="1700" dirty="0">
                <a:hlinkClick r:id="rId2"/>
              </a:rPr>
              <a:t>https://jsfiddle.net/o2Lv67mj/</a:t>
            </a:r>
            <a:endParaRPr lang="cs-CZ" sz="1700" dirty="0"/>
          </a:p>
          <a:p>
            <a:endParaRPr lang="cs-CZ" sz="1700" dirty="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EA16D4D-52B9-673A-AD78-65C591C07E0C}"/>
              </a:ext>
            </a:extLst>
          </p:cNvPr>
          <p:cNvSpPr/>
          <p:nvPr/>
        </p:nvSpPr>
        <p:spPr>
          <a:xfrm>
            <a:off x="6738572" y="777734"/>
            <a:ext cx="2539995" cy="253806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A61357-2B4A-7E28-29B2-8E1D897A9547}"/>
              </a:ext>
            </a:extLst>
          </p:cNvPr>
          <p:cNvSpPr/>
          <p:nvPr/>
        </p:nvSpPr>
        <p:spPr>
          <a:xfrm rot="2700000">
            <a:off x="6738572" y="777734"/>
            <a:ext cx="2539995" cy="2538062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pic>
        <p:nvPicPr>
          <p:cNvPr id="17" name="Obrázek 16">
            <a:extLst>
              <a:ext uri="{FF2B5EF4-FFF2-40B4-BE49-F238E27FC236}">
                <a16:creationId xmlns:a16="http://schemas.microsoft.com/office/drawing/2014/main" id="{5BD3E106-083D-40A6-F518-480769D5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35" y="4304635"/>
            <a:ext cx="6501068" cy="17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2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DBD223-02BF-C92F-6F20-847F09B6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cs-CZ" sz="8000" dirty="0">
                <a:solidFill>
                  <a:srgbClr val="FFFFFF"/>
                </a:solidFill>
              </a:rPr>
              <a:t>2. přechody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DACC0E-A632-C115-4036-F6AF3D038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cs-CZ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60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Transitions</a:t>
            </a:r>
            <a:r>
              <a:rPr lang="cs-CZ" sz="2800" dirty="0"/>
              <a:t> (přechody)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818694"/>
          </a:xfrm>
        </p:spPr>
        <p:txBody>
          <a:bodyPr anchor="t">
            <a:normAutofit/>
          </a:bodyPr>
          <a:lstStyle/>
          <a:p>
            <a:r>
              <a:rPr lang="cs-CZ" sz="1700" dirty="0"/>
              <a:t>Slouží pro plynulou změnu mezi dvěma vlastnostmi CSS</a:t>
            </a:r>
          </a:p>
          <a:p>
            <a:r>
              <a:rPr lang="cs-CZ" sz="1700" dirty="0"/>
              <a:t>Použitím přechodu můžeme animovat změnu např. mezi změnou šířky, barvy apod.</a:t>
            </a:r>
          </a:p>
          <a:p>
            <a:r>
              <a:rPr lang="cs-CZ" sz="1700" dirty="0"/>
              <a:t>Změna většinou nastává po nějaké akci uživatele (najetí myši, zaškrtnutí políčka apod.)</a:t>
            </a:r>
          </a:p>
          <a:p>
            <a:r>
              <a:rPr lang="cs-CZ" sz="1700" dirty="0"/>
              <a:t>Pro použití přechodu máme celkem 4 metody:</a:t>
            </a:r>
          </a:p>
          <a:p>
            <a:pPr lvl="1"/>
            <a:r>
              <a:rPr lang="cs-CZ" sz="1300" dirty="0" err="1"/>
              <a:t>delay</a:t>
            </a:r>
            <a:endParaRPr lang="cs-CZ" sz="1300" dirty="0"/>
          </a:p>
          <a:p>
            <a:pPr lvl="1"/>
            <a:r>
              <a:rPr lang="cs-CZ" sz="1300" dirty="0" err="1"/>
              <a:t>duration</a:t>
            </a:r>
            <a:endParaRPr lang="cs-CZ" sz="1300" dirty="0"/>
          </a:p>
          <a:p>
            <a:pPr lvl="1"/>
            <a:r>
              <a:rPr lang="cs-CZ" sz="1300" dirty="0" err="1"/>
              <a:t>property</a:t>
            </a:r>
            <a:endParaRPr lang="cs-CZ" sz="1300" dirty="0"/>
          </a:p>
          <a:p>
            <a:pPr lvl="1"/>
            <a:r>
              <a:rPr lang="cs-CZ" sz="1300" dirty="0" err="1"/>
              <a:t>timing-function</a:t>
            </a:r>
            <a:endParaRPr lang="cs-CZ" sz="1300" dirty="0"/>
          </a:p>
          <a:p>
            <a:endParaRPr lang="cs-CZ" sz="1700" dirty="0"/>
          </a:p>
        </p:txBody>
      </p:sp>
      <p:pic>
        <p:nvPicPr>
          <p:cNvPr id="7" name="Obrázek 6" descr="Obsah obrázku snímek obrazovky, diagram, text, kruh&#10;&#10;Popis byl vytvořen automaticky">
            <a:extLst>
              <a:ext uri="{FF2B5EF4-FFF2-40B4-BE49-F238E27FC236}">
                <a16:creationId xmlns:a16="http://schemas.microsoft.com/office/drawing/2014/main" id="{B074EED8-EC89-9006-8993-3AAE4537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54" y="1422332"/>
            <a:ext cx="6257907" cy="401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64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transition-duration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říká, jak dlouho má přechod probíhat</a:t>
            </a:r>
          </a:p>
          <a:p>
            <a:r>
              <a:rPr lang="cs-CZ" sz="1700" dirty="0">
                <a:solidFill>
                  <a:srgbClr val="FF0000"/>
                </a:solidFill>
              </a:rPr>
              <a:t>pokud trvání neuvedeme, bude přechod proveden ihned!</a:t>
            </a:r>
          </a:p>
          <a:p>
            <a:r>
              <a:rPr lang="cs-CZ" sz="1700" dirty="0"/>
              <a:t>Může se nastavit v sekundách (s) nebo milisekundách (</a:t>
            </a:r>
            <a:r>
              <a:rPr lang="cs-CZ" sz="1700" dirty="0" err="1"/>
              <a:t>ms</a:t>
            </a:r>
            <a:r>
              <a:rPr lang="cs-CZ" sz="1700" dirty="0"/>
              <a:t>)</a:t>
            </a:r>
          </a:p>
          <a:p>
            <a:r>
              <a:rPr lang="cs-CZ" sz="1700" dirty="0">
                <a:hlinkClick r:id="rId2"/>
              </a:rPr>
              <a:t>https://jsfiddle.net/ykz7v1ft/</a:t>
            </a:r>
            <a:endParaRPr lang="cs-CZ" sz="17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4B404C3-AF03-3596-B5D6-29B6475827CC}"/>
              </a:ext>
            </a:extLst>
          </p:cNvPr>
          <p:cNvSpPr/>
          <p:nvPr/>
        </p:nvSpPr>
        <p:spPr>
          <a:xfrm>
            <a:off x="5569228" y="1964142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805CB44-9C44-EDC0-794B-F1ABC35665F8}"/>
              </a:ext>
            </a:extLst>
          </p:cNvPr>
          <p:cNvSpPr/>
          <p:nvPr/>
        </p:nvSpPr>
        <p:spPr>
          <a:xfrm rot="900000">
            <a:off x="6728287" y="1964142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FDCFEEE-7395-9936-0E45-ADD414954894}"/>
              </a:ext>
            </a:extLst>
          </p:cNvPr>
          <p:cNvSpPr/>
          <p:nvPr/>
        </p:nvSpPr>
        <p:spPr>
          <a:xfrm rot="1800000">
            <a:off x="7887346" y="1964142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32C5FC8-0648-3362-A291-DE8F8E0A9F2C}"/>
              </a:ext>
            </a:extLst>
          </p:cNvPr>
          <p:cNvSpPr/>
          <p:nvPr/>
        </p:nvSpPr>
        <p:spPr>
          <a:xfrm rot="2700000">
            <a:off x="9216323" y="1964143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F4BB1B9F-3C90-BF13-BC9E-CD02FCC9D11E}"/>
              </a:ext>
            </a:extLst>
          </p:cNvPr>
          <p:cNvSpPr/>
          <p:nvPr/>
        </p:nvSpPr>
        <p:spPr>
          <a:xfrm rot="3600000">
            <a:off x="10534863" y="1964142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cxnSp>
        <p:nvCxnSpPr>
          <p:cNvPr id="14" name="Přímá spojovací šipka 13">
            <a:extLst>
              <a:ext uri="{FF2B5EF4-FFF2-40B4-BE49-F238E27FC236}">
                <a16:creationId xmlns:a16="http://schemas.microsoft.com/office/drawing/2014/main" id="{88836527-C479-DC35-147C-8639C1F4EB51}"/>
              </a:ext>
            </a:extLst>
          </p:cNvPr>
          <p:cNvCxnSpPr>
            <a:cxnSpLocks/>
          </p:cNvCxnSpPr>
          <p:nvPr/>
        </p:nvCxnSpPr>
        <p:spPr>
          <a:xfrm>
            <a:off x="5569228" y="3613533"/>
            <a:ext cx="5998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189DF748-4321-3BF0-AF3D-FB8C4F5E20FF}"/>
              </a:ext>
            </a:extLst>
          </p:cNvPr>
          <p:cNvSpPr txBox="1"/>
          <p:nvPr/>
        </p:nvSpPr>
        <p:spPr>
          <a:xfrm>
            <a:off x="8358121" y="324446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1s</a:t>
            </a:r>
          </a:p>
        </p:txBody>
      </p:sp>
      <p:pic>
        <p:nvPicPr>
          <p:cNvPr id="24" name="Obrázek 23" descr="Obsah obrázku text, snímek obrazovky, Písmo, Multimediální software&#10;&#10;Popis byl vytvořen automaticky">
            <a:extLst>
              <a:ext uri="{FF2B5EF4-FFF2-40B4-BE49-F238E27FC236}">
                <a16:creationId xmlns:a16="http://schemas.microsoft.com/office/drawing/2014/main" id="{6DA9E031-FBAD-7CF4-02D6-8CC068418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40" y="4037814"/>
            <a:ext cx="5826423" cy="22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1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transition-timing-function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říká, jak se má animace chovat</a:t>
            </a:r>
          </a:p>
          <a:p>
            <a:r>
              <a:rPr lang="cs-CZ" sz="1700" dirty="0"/>
              <a:t>může na začátku zrychlit nebo zvolnit, nebo běžet stále lineárně.</a:t>
            </a:r>
          </a:p>
          <a:p>
            <a:r>
              <a:rPr lang="cs-CZ" sz="1700" dirty="0"/>
              <a:t>můžeme vybrat z pěti druhů</a:t>
            </a:r>
          </a:p>
          <a:p>
            <a:r>
              <a:rPr lang="cs-CZ" sz="1700" dirty="0"/>
              <a:t>nebo si vytvořit vlastní:</a:t>
            </a:r>
          </a:p>
          <a:p>
            <a:pPr lvl="1"/>
            <a:r>
              <a:rPr lang="cs-CZ" sz="1300" dirty="0">
                <a:hlinkClick r:id="rId2"/>
              </a:rPr>
              <a:t>https://cubic-bezier.com/</a:t>
            </a:r>
            <a:endParaRPr lang="cs-CZ" sz="1300" dirty="0"/>
          </a:p>
          <a:p>
            <a:pPr marL="457200" lvl="1" indent="0">
              <a:buNone/>
            </a:pPr>
            <a:endParaRPr lang="cs-CZ" sz="1300" dirty="0"/>
          </a:p>
          <a:p>
            <a:r>
              <a:rPr lang="cs-CZ" sz="1700" dirty="0">
                <a:hlinkClick r:id="rId3"/>
              </a:rPr>
              <a:t>https://jsfiddle.net/01ur5w74/</a:t>
            </a:r>
            <a:endParaRPr lang="cs-CZ" sz="1700" dirty="0"/>
          </a:p>
          <a:p>
            <a:pPr lvl="1"/>
            <a:endParaRPr lang="cs-CZ" sz="1300" dirty="0"/>
          </a:p>
          <a:p>
            <a:endParaRPr lang="cs-CZ" sz="1700" dirty="0"/>
          </a:p>
        </p:txBody>
      </p:sp>
      <p:pic>
        <p:nvPicPr>
          <p:cNvPr id="7" name="Obrázek 6" descr="Obsah obrázku text, design, Písmo, diagram&#10;&#10;Popis byl vytvořen automaticky">
            <a:extLst>
              <a:ext uri="{FF2B5EF4-FFF2-40B4-BE49-F238E27FC236}">
                <a16:creationId xmlns:a16="http://schemas.microsoft.com/office/drawing/2014/main" id="{FF8037C5-2CCD-13A0-6D42-E2674E7D3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937" y="469621"/>
            <a:ext cx="3991088" cy="2303473"/>
          </a:xfrm>
          <a:prstGeom prst="rect">
            <a:avLst/>
          </a:prstGeom>
        </p:spPr>
      </p:pic>
      <p:pic>
        <p:nvPicPr>
          <p:cNvPr id="23" name="Obrázek 22" descr="Obsah obrázku text, snímek obrazovky, diagram, Vykreslený graf&#10;&#10;Popis byl vytvořen automaticky">
            <a:extLst>
              <a:ext uri="{FF2B5EF4-FFF2-40B4-BE49-F238E27FC236}">
                <a16:creationId xmlns:a16="http://schemas.microsoft.com/office/drawing/2014/main" id="{D606C2B5-0F1D-DD9E-FCEB-FA77EA928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988" y="599489"/>
            <a:ext cx="3293866" cy="2643226"/>
          </a:xfrm>
          <a:prstGeom prst="rect">
            <a:avLst/>
          </a:prstGeom>
        </p:spPr>
      </p:pic>
      <p:pic>
        <p:nvPicPr>
          <p:cNvPr id="30" name="Obrázek 29" descr="Obsah obrázku text, snímek obrazovky, Písmo, software&#10;&#10;Popis byl vytvořen automaticky">
            <a:extLst>
              <a:ext uri="{FF2B5EF4-FFF2-40B4-BE49-F238E27FC236}">
                <a16:creationId xmlns:a16="http://schemas.microsoft.com/office/drawing/2014/main" id="{FDF65620-27AF-6908-21DC-8A6F76B89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066" y="3615285"/>
            <a:ext cx="6375461" cy="264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5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Beziérova</a:t>
            </a:r>
            <a:r>
              <a:rPr lang="cs-CZ" sz="2800" dirty="0"/>
              <a:t> křivka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Pokud si nevystačíte s předdefinovanými průběhy přechodů, můžete si vytvořit vlastní</a:t>
            </a:r>
          </a:p>
          <a:p>
            <a:r>
              <a:rPr lang="cs-CZ" sz="1700" dirty="0">
                <a:hlinkClick r:id="rId2"/>
              </a:rPr>
              <a:t>https://cubic-bezier.com/</a:t>
            </a:r>
            <a:endParaRPr lang="cs-CZ" sz="1700" dirty="0"/>
          </a:p>
          <a:p>
            <a:r>
              <a:rPr lang="cs-CZ" sz="1700" dirty="0">
                <a:hlinkClick r:id="rId3"/>
              </a:rPr>
              <a:t>https://jsfiddle.net/pa50yj1s/</a:t>
            </a:r>
            <a:endParaRPr lang="cs-CZ" sz="1700" dirty="0"/>
          </a:p>
          <a:p>
            <a:endParaRPr lang="cs-CZ" sz="1300" dirty="0"/>
          </a:p>
          <a:p>
            <a:endParaRPr lang="cs-CZ" sz="1700" dirty="0"/>
          </a:p>
        </p:txBody>
      </p:sp>
      <p:pic>
        <p:nvPicPr>
          <p:cNvPr id="12" name="Obrázek 11" descr="Obsah obrázku text, Písmo, diagram, Vykreslený graf&#10;&#10;Popis byl vytvořen automaticky">
            <a:extLst>
              <a:ext uri="{FF2B5EF4-FFF2-40B4-BE49-F238E27FC236}">
                <a16:creationId xmlns:a16="http://schemas.microsoft.com/office/drawing/2014/main" id="{AF5EF6D0-FCEA-00CA-477D-662428809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207" y="816060"/>
            <a:ext cx="5676409" cy="2086307"/>
          </a:xfrm>
          <a:prstGeom prst="rect">
            <a:avLst/>
          </a:prstGeom>
        </p:spPr>
      </p:pic>
      <p:pic>
        <p:nvPicPr>
          <p:cNvPr id="10" name="Obrázek 9" descr="Obsah obrázku text, snímek obrazovky, Písmo, software&#10;&#10;Popis byl vytvořen automaticky">
            <a:extLst>
              <a:ext uri="{FF2B5EF4-FFF2-40B4-BE49-F238E27FC236}">
                <a16:creationId xmlns:a16="http://schemas.microsoft.com/office/drawing/2014/main" id="{2683C321-8F97-BE70-B0FD-A7B4F9B0C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216" y="3718427"/>
            <a:ext cx="6154036" cy="237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07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transition-property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touto vlastností specifikujeme, jaké konkrétní vlastnosti budeme animovat</a:t>
            </a:r>
          </a:p>
          <a:p>
            <a:r>
              <a:rPr lang="cs-CZ" sz="1700" dirty="0"/>
              <a:t>pokud nastavíme na </a:t>
            </a:r>
            <a:r>
              <a:rPr lang="cs-CZ" sz="1700" i="1" dirty="0" err="1"/>
              <a:t>all</a:t>
            </a:r>
            <a:r>
              <a:rPr lang="cs-CZ" sz="1700" dirty="0"/>
              <a:t>, bude se animovat vše (</a:t>
            </a:r>
            <a:r>
              <a:rPr lang="cs-CZ" sz="1700" dirty="0" err="1"/>
              <a:t>transition-property</a:t>
            </a:r>
            <a:r>
              <a:rPr lang="cs-CZ" sz="1700" dirty="0"/>
              <a:t>: </a:t>
            </a:r>
            <a:r>
              <a:rPr lang="cs-CZ" sz="1700" dirty="0" err="1"/>
              <a:t>all</a:t>
            </a:r>
            <a:r>
              <a:rPr lang="cs-CZ" sz="1700" dirty="0"/>
              <a:t>) – výchozí nastavení</a:t>
            </a:r>
          </a:p>
          <a:p>
            <a:r>
              <a:rPr lang="cs-CZ" sz="1700" dirty="0">
                <a:hlinkClick r:id="rId2"/>
              </a:rPr>
              <a:t>https://jsfiddle.net/6u4L5e0c/</a:t>
            </a:r>
            <a:endParaRPr lang="cs-CZ" sz="1700" dirty="0"/>
          </a:p>
        </p:txBody>
      </p:sp>
      <p:pic>
        <p:nvPicPr>
          <p:cNvPr id="40" name="Obrázek 39" descr="Obsah obrázku text, snímek obrazovky, software, Multimediální software&#10;&#10;Popis byl vytvořen automaticky">
            <a:extLst>
              <a:ext uri="{FF2B5EF4-FFF2-40B4-BE49-F238E27FC236}">
                <a16:creationId xmlns:a16="http://schemas.microsoft.com/office/drawing/2014/main" id="{F05B3E76-EA7D-953C-3885-5FBC30D4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358" y="1565326"/>
            <a:ext cx="6551183" cy="30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60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 err="1"/>
              <a:t>transition-delay</a:t>
            </a:r>
            <a:endParaRPr lang="cs-CZ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říká nám, za jak dlouho se má přechod spustit (zpoždění)</a:t>
            </a:r>
          </a:p>
          <a:p>
            <a:r>
              <a:rPr lang="cs-CZ" sz="1700" dirty="0"/>
              <a:t>můžeme hodnotu zadat v sekundách (s) nebo milisekundách (</a:t>
            </a:r>
            <a:r>
              <a:rPr lang="cs-CZ" sz="1700" dirty="0" err="1"/>
              <a:t>ms</a:t>
            </a:r>
            <a:r>
              <a:rPr lang="cs-CZ" sz="1700" dirty="0"/>
              <a:t>)</a:t>
            </a:r>
          </a:p>
          <a:p>
            <a:r>
              <a:rPr lang="cs-CZ" sz="1700" dirty="0">
                <a:hlinkClick r:id="rId2"/>
              </a:rPr>
              <a:t>https://jsfiddle.net/kx3h8b2s/</a:t>
            </a:r>
            <a:endParaRPr lang="cs-CZ" sz="1300" dirty="0"/>
          </a:p>
          <a:p>
            <a:pPr lvl="1"/>
            <a:endParaRPr lang="cs-CZ" sz="1300" dirty="0"/>
          </a:p>
          <a:p>
            <a:endParaRPr lang="cs-CZ" sz="17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4490AC20-710C-9715-F934-203E926FB0C0}"/>
              </a:ext>
            </a:extLst>
          </p:cNvPr>
          <p:cNvSpPr/>
          <p:nvPr/>
        </p:nvSpPr>
        <p:spPr>
          <a:xfrm>
            <a:off x="4962534" y="1380033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0A214FD-7A9E-B72D-D9FD-91E8D8FE5CF4}"/>
              </a:ext>
            </a:extLst>
          </p:cNvPr>
          <p:cNvSpPr/>
          <p:nvPr/>
        </p:nvSpPr>
        <p:spPr>
          <a:xfrm rot="900000">
            <a:off x="8111719" y="1380033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9104F17-3D05-3D2C-C9EC-3948E6AB5462}"/>
              </a:ext>
            </a:extLst>
          </p:cNvPr>
          <p:cNvSpPr/>
          <p:nvPr/>
        </p:nvSpPr>
        <p:spPr>
          <a:xfrm rot="1800000">
            <a:off x="9270778" y="1380033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61503BD-765D-FFBA-7622-9348C41BC016}"/>
              </a:ext>
            </a:extLst>
          </p:cNvPr>
          <p:cNvSpPr/>
          <p:nvPr/>
        </p:nvSpPr>
        <p:spPr>
          <a:xfrm rot="2700000">
            <a:off x="10599755" y="1380034"/>
            <a:ext cx="872980" cy="8723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800" dirty="0"/>
          </a:p>
        </p:txBody>
      </p:sp>
      <p:cxnSp>
        <p:nvCxnSpPr>
          <p:cNvPr id="11" name="Přímá spojovací šipka 10">
            <a:extLst>
              <a:ext uri="{FF2B5EF4-FFF2-40B4-BE49-F238E27FC236}">
                <a16:creationId xmlns:a16="http://schemas.microsoft.com/office/drawing/2014/main" id="{586BC1E3-C092-28F1-CE36-B496315DEE87}"/>
              </a:ext>
            </a:extLst>
          </p:cNvPr>
          <p:cNvCxnSpPr>
            <a:cxnSpLocks/>
          </p:cNvCxnSpPr>
          <p:nvPr/>
        </p:nvCxnSpPr>
        <p:spPr>
          <a:xfrm>
            <a:off x="4962534" y="2945219"/>
            <a:ext cx="10554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174BE0D9-9F20-E84D-6E76-B35F5FACE5F6}"/>
              </a:ext>
            </a:extLst>
          </p:cNvPr>
          <p:cNvSpPr txBox="1"/>
          <p:nvPr/>
        </p:nvSpPr>
        <p:spPr>
          <a:xfrm>
            <a:off x="6096000" y="2533388"/>
            <a:ext cx="16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čekej 1000 </a:t>
            </a:r>
            <a:r>
              <a:rPr lang="cs-CZ" dirty="0" err="1"/>
              <a:t>ms</a:t>
            </a:r>
            <a:endParaRPr lang="cs-CZ" dirty="0"/>
          </a:p>
        </p:txBody>
      </p:sp>
      <p:cxnSp>
        <p:nvCxnSpPr>
          <p:cNvPr id="15" name="Přímá spojovací šipka 14">
            <a:extLst>
              <a:ext uri="{FF2B5EF4-FFF2-40B4-BE49-F238E27FC236}">
                <a16:creationId xmlns:a16="http://schemas.microsoft.com/office/drawing/2014/main" id="{84E0CA0F-ED6C-9E45-7697-D7D1E21A603B}"/>
              </a:ext>
            </a:extLst>
          </p:cNvPr>
          <p:cNvCxnSpPr>
            <a:cxnSpLocks/>
          </p:cNvCxnSpPr>
          <p:nvPr/>
        </p:nvCxnSpPr>
        <p:spPr>
          <a:xfrm>
            <a:off x="6096000" y="2948763"/>
            <a:ext cx="1665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ovací šipka 21">
            <a:extLst>
              <a:ext uri="{FF2B5EF4-FFF2-40B4-BE49-F238E27FC236}">
                <a16:creationId xmlns:a16="http://schemas.microsoft.com/office/drawing/2014/main" id="{A80704EF-24A4-5487-4537-B53191224758}"/>
              </a:ext>
            </a:extLst>
          </p:cNvPr>
          <p:cNvCxnSpPr>
            <a:cxnSpLocks/>
          </p:cNvCxnSpPr>
          <p:nvPr/>
        </p:nvCxnSpPr>
        <p:spPr>
          <a:xfrm>
            <a:off x="7885813" y="2948763"/>
            <a:ext cx="3697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AA3899B5-8ACD-0DE0-501E-687FF0708FF8}"/>
              </a:ext>
            </a:extLst>
          </p:cNvPr>
          <p:cNvSpPr txBox="1"/>
          <p:nvPr/>
        </p:nvSpPr>
        <p:spPr>
          <a:xfrm>
            <a:off x="5030814" y="2537908"/>
            <a:ext cx="73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err="1"/>
              <a:t>hover</a:t>
            </a:r>
            <a:endParaRPr lang="cs-CZ" dirty="0"/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19884164-2C48-46D1-E52D-266C6F0B3CDF}"/>
              </a:ext>
            </a:extLst>
          </p:cNvPr>
          <p:cNvSpPr txBox="1"/>
          <p:nvPr/>
        </p:nvSpPr>
        <p:spPr>
          <a:xfrm>
            <a:off x="8548209" y="2533388"/>
            <a:ext cx="1873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začátek animace</a:t>
            </a:r>
          </a:p>
        </p:txBody>
      </p:sp>
      <p:pic>
        <p:nvPicPr>
          <p:cNvPr id="36" name="Obrázek 35" descr="Obsah obrázku text, snímek obrazovky, Písmo, Multimediální software&#10;&#10;Popis byl vytvořen automaticky">
            <a:extLst>
              <a:ext uri="{FF2B5EF4-FFF2-40B4-BE49-F238E27FC236}">
                <a16:creationId xmlns:a16="http://schemas.microsoft.com/office/drawing/2014/main" id="{60F4AB81-53B9-1B9E-E56E-3955F3B6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03" y="3713812"/>
            <a:ext cx="5994548" cy="248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40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Co se animovat nedá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54448" cy="3207258"/>
          </a:xfrm>
        </p:spPr>
        <p:txBody>
          <a:bodyPr anchor="t">
            <a:normAutofit lnSpcReduction="10000"/>
          </a:bodyPr>
          <a:lstStyle/>
          <a:p>
            <a:r>
              <a:rPr lang="cs-CZ" sz="1700" dirty="0"/>
              <a:t>Skrytí elementu pomocí </a:t>
            </a:r>
            <a:r>
              <a:rPr lang="cs-CZ" sz="1700" b="1" i="1" dirty="0"/>
              <a:t>display</a:t>
            </a:r>
          </a:p>
          <a:p>
            <a:r>
              <a:rPr lang="cs-CZ" sz="1700" dirty="0"/>
              <a:t>Skrytí elementu pomocí </a:t>
            </a:r>
            <a:r>
              <a:rPr lang="cs-CZ" sz="1700" b="1" i="1" dirty="0" err="1"/>
              <a:t>visibility</a:t>
            </a:r>
            <a:endParaRPr lang="cs-CZ" sz="1700" b="1" i="1" dirty="0"/>
          </a:p>
          <a:p>
            <a:r>
              <a:rPr lang="cs-CZ" sz="1700" dirty="0"/>
              <a:t>Pozicování </a:t>
            </a:r>
            <a:r>
              <a:rPr lang="cs-CZ" sz="1700" dirty="0" err="1"/>
              <a:t>elemetu</a:t>
            </a:r>
            <a:r>
              <a:rPr lang="cs-CZ" sz="1700" dirty="0"/>
              <a:t> pomocí </a:t>
            </a:r>
            <a:r>
              <a:rPr lang="cs-CZ" sz="1700" b="1" i="1" dirty="0" err="1"/>
              <a:t>position</a:t>
            </a:r>
            <a:endParaRPr lang="cs-CZ" sz="1700" b="1" i="1" dirty="0"/>
          </a:p>
          <a:p>
            <a:r>
              <a:rPr lang="cs-CZ" sz="1700" dirty="0"/>
              <a:t>a další...</a:t>
            </a:r>
          </a:p>
          <a:p>
            <a:endParaRPr lang="cs-CZ" sz="1700" dirty="0"/>
          </a:p>
          <a:p>
            <a:r>
              <a:rPr lang="cs-CZ" sz="1700" dirty="0"/>
              <a:t>Většinou animujeme ty vlastnosti, u kterých můžeme nastavit hodnotu pomocí čísel nebo barvy.</a:t>
            </a:r>
          </a:p>
          <a:p>
            <a:endParaRPr lang="cs-CZ" sz="1700" dirty="0"/>
          </a:p>
          <a:p>
            <a:r>
              <a:rPr lang="cs-CZ" sz="1700" dirty="0">
                <a:hlinkClick r:id="rId2"/>
              </a:rPr>
              <a:t>https://jsfiddle.net/ybLxn5oe/</a:t>
            </a:r>
            <a:endParaRPr lang="cs-CZ" sz="1700" dirty="0"/>
          </a:p>
          <a:p>
            <a:pPr lvl="1"/>
            <a:endParaRPr lang="cs-CZ" sz="1300" dirty="0"/>
          </a:p>
          <a:p>
            <a:endParaRPr lang="cs-CZ" sz="1700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A6E0808-F9B0-4BF1-5999-B51A48B13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76" y="2400300"/>
            <a:ext cx="6332615" cy="2588514"/>
          </a:xfrm>
          <a:prstGeom prst="rect">
            <a:avLst/>
          </a:prstGeom>
        </p:spPr>
      </p:pic>
      <p:sp>
        <p:nvSpPr>
          <p:cNvPr id="13" name="TextovéPole 12">
            <a:extLst>
              <a:ext uri="{FF2B5EF4-FFF2-40B4-BE49-F238E27FC236}">
                <a16:creationId xmlns:a16="http://schemas.microsoft.com/office/drawing/2014/main" id="{46D48C03-EEC8-12D9-D9D5-EBC8B8D162BA}"/>
              </a:ext>
            </a:extLst>
          </p:cNvPr>
          <p:cNvSpPr txBox="1"/>
          <p:nvPr/>
        </p:nvSpPr>
        <p:spPr>
          <a:xfrm>
            <a:off x="5090175" y="5133795"/>
            <a:ext cx="6332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Pro animované schování elementu můžeme použít vlastnost </a:t>
            </a:r>
            <a:r>
              <a:rPr lang="cs-CZ" b="1" i="1" dirty="0"/>
              <a:t>opacity</a:t>
            </a:r>
          </a:p>
        </p:txBody>
      </p:sp>
    </p:spTree>
    <p:extLst>
      <p:ext uri="{BB962C8B-B14F-4D97-AF65-F5344CB8AC3E}">
        <p14:creationId xmlns:p14="http://schemas.microsoft.com/office/powerpoint/2010/main" val="887534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Optimalizace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Pokud chcete změnit pozici elementu, nepoužívejte </a:t>
            </a:r>
            <a:r>
              <a:rPr lang="cs-CZ" sz="1700" i="1" dirty="0"/>
              <a:t>top, </a:t>
            </a:r>
            <a:r>
              <a:rPr lang="cs-CZ" sz="1700" b="1" i="1" dirty="0" err="1"/>
              <a:t>right</a:t>
            </a:r>
            <a:r>
              <a:rPr lang="cs-CZ" sz="1700" i="1" dirty="0"/>
              <a:t>, </a:t>
            </a:r>
            <a:r>
              <a:rPr lang="cs-CZ" sz="1700" b="1" i="1" dirty="0" err="1"/>
              <a:t>bottom</a:t>
            </a:r>
            <a:r>
              <a:rPr lang="cs-CZ" sz="1700" i="1" dirty="0"/>
              <a:t>, </a:t>
            </a:r>
            <a:r>
              <a:rPr lang="cs-CZ" sz="1700" b="1" i="1" dirty="0" err="1"/>
              <a:t>left</a:t>
            </a:r>
            <a:r>
              <a:rPr lang="cs-CZ" sz="1700" dirty="0"/>
              <a:t>, ale použijte </a:t>
            </a:r>
            <a:r>
              <a:rPr lang="cs-CZ" sz="1700" b="1" i="1" dirty="0" err="1"/>
              <a:t>transform</a:t>
            </a:r>
            <a:r>
              <a:rPr lang="cs-CZ" sz="1700" b="1" i="1" dirty="0"/>
              <a:t>()</a:t>
            </a:r>
            <a:r>
              <a:rPr lang="cs-CZ" sz="1700" i="1" dirty="0"/>
              <a:t>.</a:t>
            </a:r>
          </a:p>
          <a:p>
            <a:r>
              <a:rPr lang="cs-CZ" sz="1700" dirty="0"/>
              <a:t>Ptejte se, v jaké fázi </a:t>
            </a:r>
            <a:r>
              <a:rPr lang="cs-CZ" sz="1700" dirty="0" err="1"/>
              <a:t>rendrování</a:t>
            </a:r>
            <a:r>
              <a:rPr lang="cs-CZ" sz="1700" dirty="0"/>
              <a:t> stránky dochází ke změně vlastnosti elementu.</a:t>
            </a:r>
          </a:p>
          <a:p>
            <a:pPr marL="0" indent="0">
              <a:buNone/>
            </a:pPr>
            <a:endParaRPr lang="cs-CZ" sz="1300" dirty="0"/>
          </a:p>
          <a:p>
            <a:pPr marL="0" indent="0">
              <a:buNone/>
            </a:pPr>
            <a:endParaRPr lang="cs-CZ" sz="1300" dirty="0"/>
          </a:p>
          <a:p>
            <a:endParaRPr lang="cs-CZ" sz="1700" dirty="0"/>
          </a:p>
        </p:txBody>
      </p:sp>
      <p:pic>
        <p:nvPicPr>
          <p:cNvPr id="8" name="Obrázek 7" descr="Obsah obrázku text, snímek obrazovky, Písmo, design&#10;&#10;Popis byl vytvořen automaticky">
            <a:extLst>
              <a:ext uri="{FF2B5EF4-FFF2-40B4-BE49-F238E27FC236}">
                <a16:creationId xmlns:a16="http://schemas.microsoft.com/office/drawing/2014/main" id="{16F5A2AB-D44C-520D-6B57-8C735BEC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623" y="1780794"/>
            <a:ext cx="6800550" cy="1635469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C616BC2D-5F67-7366-998A-C5D07A27F863}"/>
              </a:ext>
            </a:extLst>
          </p:cNvPr>
          <p:cNvSpPr txBox="1"/>
          <p:nvPr/>
        </p:nvSpPr>
        <p:spPr>
          <a:xfrm>
            <a:off x="5446981" y="3860018"/>
            <a:ext cx="6103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Layout: </a:t>
            </a:r>
            <a:r>
              <a:rPr lang="cs-CZ" b="1" i="1" dirty="0" err="1"/>
              <a:t>height</a:t>
            </a:r>
            <a:r>
              <a:rPr lang="cs-CZ" i="1" dirty="0"/>
              <a:t>, </a:t>
            </a:r>
            <a:r>
              <a:rPr lang="cs-CZ" b="1" i="1" dirty="0" err="1"/>
              <a:t>width</a:t>
            </a:r>
            <a:r>
              <a:rPr lang="cs-CZ" i="1" dirty="0"/>
              <a:t>, </a:t>
            </a:r>
            <a:r>
              <a:rPr lang="cs-CZ" b="1" i="1" dirty="0"/>
              <a:t>display</a:t>
            </a:r>
            <a:r>
              <a:rPr lang="cs-CZ" i="1" dirty="0"/>
              <a:t>, </a:t>
            </a:r>
            <a:r>
              <a:rPr lang="cs-CZ" b="1" i="1" dirty="0" err="1"/>
              <a:t>padding</a:t>
            </a:r>
            <a:endParaRPr lang="cs-CZ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Paint</a:t>
            </a:r>
            <a:r>
              <a:rPr lang="cs-CZ" dirty="0"/>
              <a:t>: </a:t>
            </a:r>
            <a:r>
              <a:rPr lang="cs-CZ" b="1" i="1" dirty="0" err="1"/>
              <a:t>color</a:t>
            </a:r>
            <a:r>
              <a:rPr lang="cs-CZ" i="1" dirty="0"/>
              <a:t>, </a:t>
            </a:r>
            <a:r>
              <a:rPr lang="cs-CZ" b="1" i="1" dirty="0"/>
              <a:t>background</a:t>
            </a:r>
            <a:r>
              <a:rPr lang="cs-CZ" i="1" dirty="0"/>
              <a:t>, </a:t>
            </a:r>
            <a:r>
              <a:rPr lang="cs-CZ" b="1" i="1" dirty="0"/>
              <a:t>box-</a:t>
            </a:r>
            <a:r>
              <a:rPr lang="cs-CZ" b="1" i="1" dirty="0" err="1"/>
              <a:t>shadow</a:t>
            </a:r>
            <a:endParaRPr lang="cs-CZ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Composite</a:t>
            </a:r>
            <a:r>
              <a:rPr lang="cs-CZ" dirty="0"/>
              <a:t>: </a:t>
            </a:r>
            <a:r>
              <a:rPr lang="cs-CZ" b="1" i="1" dirty="0"/>
              <a:t>opacity</a:t>
            </a:r>
            <a:r>
              <a:rPr lang="cs-CZ" i="1" dirty="0"/>
              <a:t>, </a:t>
            </a:r>
            <a:r>
              <a:rPr lang="cs-CZ" b="1" i="1" dirty="0" err="1"/>
              <a:t>transform</a:t>
            </a:r>
            <a:r>
              <a:rPr lang="cs-CZ" i="1" dirty="0"/>
              <a:t>, </a:t>
            </a:r>
            <a:r>
              <a:rPr lang="cs-CZ" b="1" i="1" dirty="0"/>
              <a:t>z-index</a:t>
            </a:r>
            <a:r>
              <a:rPr lang="cs-CZ" i="1" dirty="0"/>
              <a:t>, </a:t>
            </a:r>
            <a:r>
              <a:rPr lang="cs-CZ" b="1" i="1" dirty="0" err="1"/>
              <a:t>filter</a:t>
            </a:r>
            <a:endParaRPr lang="cs-CZ" b="1" i="1" dirty="0"/>
          </a:p>
        </p:txBody>
      </p:sp>
    </p:spTree>
    <p:extLst>
      <p:ext uri="{BB962C8B-B14F-4D97-AF65-F5344CB8AC3E}">
        <p14:creationId xmlns:p14="http://schemas.microsoft.com/office/powerpoint/2010/main" val="1634699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Cvičení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554135" cy="3565881"/>
          </a:xfrm>
        </p:spPr>
        <p:txBody>
          <a:bodyPr anchor="t">
            <a:normAutofit fontScale="92500" lnSpcReduction="20000"/>
          </a:bodyPr>
          <a:lstStyle/>
          <a:p>
            <a:r>
              <a:rPr lang="cs-CZ" sz="1700" dirty="0"/>
              <a:t>Vytvořte navigaci se čtyřmi položkami</a:t>
            </a:r>
          </a:p>
          <a:p>
            <a:pPr lvl="1"/>
            <a:r>
              <a:rPr lang="cs-CZ" sz="1300" dirty="0"/>
              <a:t>Domů</a:t>
            </a:r>
          </a:p>
          <a:p>
            <a:pPr lvl="1"/>
            <a:r>
              <a:rPr lang="cs-CZ" sz="1300" dirty="0"/>
              <a:t>O nás</a:t>
            </a:r>
          </a:p>
          <a:p>
            <a:pPr lvl="1"/>
            <a:r>
              <a:rPr lang="cs-CZ" sz="1300" dirty="0"/>
              <a:t>Galerie</a:t>
            </a:r>
          </a:p>
          <a:p>
            <a:pPr lvl="1"/>
            <a:r>
              <a:rPr lang="cs-CZ" sz="1300" dirty="0"/>
              <a:t>Kontakt</a:t>
            </a:r>
          </a:p>
          <a:p>
            <a:r>
              <a:rPr lang="cs-CZ" sz="1700" dirty="0"/>
              <a:t>Položky budou zarovnané vedle sebe (použijte </a:t>
            </a:r>
            <a:r>
              <a:rPr lang="cs-CZ" sz="1700" b="1" i="1" dirty="0" err="1"/>
              <a:t>flexbox</a:t>
            </a:r>
            <a:r>
              <a:rPr lang="cs-CZ" sz="1700" dirty="0"/>
              <a:t>)</a:t>
            </a:r>
          </a:p>
          <a:p>
            <a:r>
              <a:rPr lang="cs-CZ" sz="1700" dirty="0"/>
              <a:t>Položkám přidejte barevné pozadí a </a:t>
            </a:r>
            <a:r>
              <a:rPr lang="cs-CZ" sz="1700" b="1" i="1" dirty="0" err="1"/>
              <a:t>padding</a:t>
            </a:r>
            <a:endParaRPr lang="cs-CZ" sz="1700" b="1" i="1" dirty="0"/>
          </a:p>
          <a:p>
            <a:r>
              <a:rPr lang="cs-CZ" sz="1700" dirty="0"/>
              <a:t>Po najetí myši položka změní barvu a posune se směrem nahoru</a:t>
            </a:r>
          </a:p>
          <a:p>
            <a:pPr marL="0" indent="0">
              <a:buNone/>
            </a:pPr>
            <a:endParaRPr lang="cs-CZ" sz="1700" dirty="0"/>
          </a:p>
          <a:p>
            <a:r>
              <a:rPr lang="cs-CZ" sz="1700" dirty="0"/>
              <a:t>HTML které budete potřebovat: </a:t>
            </a:r>
            <a:r>
              <a:rPr lang="cs-CZ" sz="1700" b="1" i="1" dirty="0"/>
              <a:t>nav, ul, </a:t>
            </a:r>
            <a:r>
              <a:rPr lang="cs-CZ" sz="1700" b="1" i="1" dirty="0" err="1"/>
              <a:t>li</a:t>
            </a:r>
            <a:endParaRPr lang="cs-CZ" sz="1300" b="1" i="1" dirty="0"/>
          </a:p>
          <a:p>
            <a:endParaRPr lang="cs-CZ" sz="1700" dirty="0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46D48C03-EEC8-12D9-D9D5-EBC8B8D162BA}"/>
              </a:ext>
            </a:extLst>
          </p:cNvPr>
          <p:cNvSpPr txBox="1"/>
          <p:nvPr/>
        </p:nvSpPr>
        <p:spPr>
          <a:xfrm>
            <a:off x="5157528" y="2782669"/>
            <a:ext cx="6332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/>
              <a:t>Řešení:</a:t>
            </a:r>
          </a:p>
          <a:p>
            <a:pPr algn="ctr"/>
            <a:r>
              <a:rPr lang="cs-CZ" dirty="0">
                <a:hlinkClick r:id="rId2"/>
              </a:rPr>
              <a:t>https://jsfiddle.net/y8vzhctj/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382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Cvičení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554135" cy="3565881"/>
          </a:xfrm>
        </p:spPr>
        <p:txBody>
          <a:bodyPr anchor="t">
            <a:normAutofit/>
          </a:bodyPr>
          <a:lstStyle/>
          <a:p>
            <a:r>
              <a:rPr lang="cs-CZ" sz="1700" dirty="0"/>
              <a:t>Vytvořte obrázek</a:t>
            </a:r>
          </a:p>
          <a:p>
            <a:r>
              <a:rPr lang="cs-CZ" sz="1700" dirty="0"/>
              <a:t>Jako </a:t>
            </a:r>
            <a:r>
              <a:rPr lang="cs-CZ" sz="1700" b="1" i="1" dirty="0" err="1"/>
              <a:t>src</a:t>
            </a:r>
            <a:r>
              <a:rPr lang="cs-CZ" sz="1700" dirty="0"/>
              <a:t> použijte libovolný obrázek z webu. Stačí zkopírovat jeho </a:t>
            </a:r>
            <a:r>
              <a:rPr lang="cs-CZ" sz="1700" dirty="0" err="1"/>
              <a:t>url</a:t>
            </a:r>
            <a:r>
              <a:rPr lang="cs-CZ" sz="1700" dirty="0"/>
              <a:t> a vložit do </a:t>
            </a:r>
            <a:r>
              <a:rPr lang="cs-CZ" sz="1700" b="1" i="1" dirty="0" err="1"/>
              <a:t>src</a:t>
            </a:r>
            <a:r>
              <a:rPr lang="cs-CZ" sz="1700" dirty="0"/>
              <a:t> atributu.</a:t>
            </a:r>
          </a:p>
          <a:p>
            <a:r>
              <a:rPr lang="cs-CZ" sz="1700" dirty="0"/>
              <a:t>Obrázku nastavte:</a:t>
            </a:r>
          </a:p>
          <a:p>
            <a:pPr lvl="1"/>
            <a:r>
              <a:rPr lang="cs-CZ" sz="1300" dirty="0" err="1"/>
              <a:t>padding</a:t>
            </a:r>
            <a:r>
              <a:rPr lang="cs-CZ" sz="1300" dirty="0"/>
              <a:t> 5px</a:t>
            </a:r>
          </a:p>
          <a:p>
            <a:pPr lvl="1"/>
            <a:r>
              <a:rPr lang="cs-CZ" sz="1300" dirty="0" err="1"/>
              <a:t>width</a:t>
            </a:r>
            <a:r>
              <a:rPr lang="cs-CZ" sz="1300" dirty="0"/>
              <a:t> 200px</a:t>
            </a:r>
            <a:endParaRPr lang="cs-CZ" sz="1700" dirty="0"/>
          </a:p>
          <a:p>
            <a:r>
              <a:rPr lang="cs-CZ" sz="1700" dirty="0"/>
              <a:t>Po najetí myší na obrázek přidejte animaci vlastnosti </a:t>
            </a:r>
            <a:r>
              <a:rPr lang="cs-CZ" sz="1700" b="1" i="1" dirty="0"/>
              <a:t>box-</a:t>
            </a:r>
            <a:r>
              <a:rPr lang="cs-CZ" sz="1700" b="1" i="1" dirty="0" err="1"/>
              <a:t>shadow</a:t>
            </a:r>
            <a:r>
              <a:rPr lang="cs-CZ" sz="1700" dirty="0"/>
              <a:t>.</a:t>
            </a:r>
            <a:endParaRPr lang="cs-CZ" sz="1700" b="1" i="1" dirty="0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46D48C03-EEC8-12D9-D9D5-EBC8B8D162BA}"/>
              </a:ext>
            </a:extLst>
          </p:cNvPr>
          <p:cNvSpPr txBox="1"/>
          <p:nvPr/>
        </p:nvSpPr>
        <p:spPr>
          <a:xfrm>
            <a:off x="4969953" y="5275370"/>
            <a:ext cx="6332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/>
              <a:t>Řešení:</a:t>
            </a:r>
          </a:p>
          <a:p>
            <a:pPr algn="ctr"/>
            <a:r>
              <a:rPr lang="cs-CZ" dirty="0">
                <a:hlinkClick r:id="rId2"/>
              </a:rPr>
              <a:t>https://jsfiddle.net/uhcswxmv/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30298C7-C47B-DCF0-714B-DE9ABBBEB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676" y="2112679"/>
            <a:ext cx="2781300" cy="5334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E83230C4-9EF2-16CD-71E6-F099094D5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173" y="89823"/>
            <a:ext cx="4357088" cy="4823314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E41D8C2A-F31C-E4A0-98B5-72EC489BD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217" y="3247049"/>
            <a:ext cx="3798219" cy="51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2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151E1-8B87-206B-2E10-46D27EE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093162" cy="1239012"/>
          </a:xfrm>
        </p:spPr>
        <p:txBody>
          <a:bodyPr anchor="ctr">
            <a:normAutofit/>
          </a:bodyPr>
          <a:lstStyle/>
          <a:p>
            <a:r>
              <a:rPr lang="cs-CZ" sz="2800" dirty="0"/>
              <a:t>Závěr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09A5D-C74A-417C-D53E-16E3B5A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/>
              <a:t>S animacemi to nepřehánějte</a:t>
            </a:r>
          </a:p>
          <a:p>
            <a:r>
              <a:rPr lang="cs-CZ" sz="1700" dirty="0"/>
              <a:t>Zbytečné a dlouhé animace zhoršují UX (uživatelský zážitek)</a:t>
            </a:r>
          </a:p>
          <a:p>
            <a:endParaRPr lang="cs-CZ" sz="1700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B5BAB0C-B5E0-29DC-A145-FB055D20A3FE}"/>
              </a:ext>
            </a:extLst>
          </p:cNvPr>
          <p:cNvSpPr txBox="1"/>
          <p:nvPr/>
        </p:nvSpPr>
        <p:spPr>
          <a:xfrm>
            <a:off x="4933507" y="2443480"/>
            <a:ext cx="6887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“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doing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nothing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is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faster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than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doing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 </a:t>
            </a:r>
            <a:r>
              <a:rPr lang="cs-CZ" sz="3200" b="0" i="0" dirty="0" err="1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something</a:t>
            </a:r>
            <a:r>
              <a:rPr lang="cs-CZ" sz="3200" b="0" i="0" dirty="0">
                <a:solidFill>
                  <a:srgbClr val="243D48"/>
                </a:solidFill>
                <a:effectLst/>
                <a:highlight>
                  <a:srgbClr val="FFFFFF"/>
                </a:highlight>
                <a:latin typeface="Lora" pitchFamily="2" charset="0"/>
              </a:rPr>
              <a:t>.”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91864786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2293</TotalTime>
  <Words>856</Words>
  <Application>Microsoft Macintosh PowerPoint</Application>
  <PresentationFormat>Širokoúhlá obrazovka</PresentationFormat>
  <Paragraphs>138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Lora</vt:lpstr>
      <vt:lpstr>Motiv Office</vt:lpstr>
      <vt:lpstr>CSS animace transformace přechody</vt:lpstr>
      <vt:lpstr>Co je animace</vt:lpstr>
      <vt:lpstr>JS Fiddle</vt:lpstr>
      <vt:lpstr>1. transformace</vt:lpstr>
      <vt:lpstr>Transformace</vt:lpstr>
      <vt:lpstr>Osy transformací</vt:lpstr>
      <vt:lpstr>Translate</vt:lpstr>
      <vt:lpstr>Rotate</vt:lpstr>
      <vt:lpstr>Scale</vt:lpstr>
      <vt:lpstr>Skew</vt:lpstr>
      <vt:lpstr>Vícenásobné transformace</vt:lpstr>
      <vt:lpstr>2. přechody</vt:lpstr>
      <vt:lpstr>Transitions (přechody)</vt:lpstr>
      <vt:lpstr>transition-duration</vt:lpstr>
      <vt:lpstr>transition-timing-function</vt:lpstr>
      <vt:lpstr>Beziérova křivka</vt:lpstr>
      <vt:lpstr>transition-property</vt:lpstr>
      <vt:lpstr>transition-delay</vt:lpstr>
      <vt:lpstr>Co se animovat nedá</vt:lpstr>
      <vt:lpstr>Optimalizace</vt:lpstr>
      <vt:lpstr>Cvičení 1</vt:lpstr>
      <vt:lpstr>Cvičení 2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Nikl, Vodafone</dc:creator>
  <cp:lastModifiedBy>Martin Nikl, Vodafone</cp:lastModifiedBy>
  <cp:revision>30</cp:revision>
  <dcterms:created xsi:type="dcterms:W3CDTF">2024-07-21T16:38:04Z</dcterms:created>
  <dcterms:modified xsi:type="dcterms:W3CDTF">2025-07-14T14:15:37Z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2024-07-22T16:50:57Z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889b51ce-7a3d-4fc8-85d2-bb5e9f546c0b</vt:lpwstr>
  </property>
  <property fmtid="{D5CDD505-2E9C-101B-9397-08002B2CF9AE}" pid="8" name="MSIP_Label_0359f705-2ba0-454b-9cfc-6ce5bcaac040_ContentBits">
    <vt:lpwstr>2</vt:lpwstr>
  </property>
  <property fmtid="{D5CDD505-2E9C-101B-9397-08002B2CF9AE}" pid="9" name="ClassificationContentMarkingFooterLocations">
    <vt:lpwstr>Motiv Office:8</vt:lpwstr>
  </property>
  <property fmtid="{D5CDD505-2E9C-101B-9397-08002B2CF9AE}" pid="10" name="ClassificationContentMarkingFooterText">
    <vt:lpwstr>C2 General</vt:lpwstr>
  </property>
</Properties>
</file>